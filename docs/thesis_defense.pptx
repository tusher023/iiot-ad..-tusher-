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40080"/>
            <a:ext cx="10545775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6A0"/>
                </a:solidFill>
                <a:latin typeface="Calibri"/>
              </a:defRPr>
            </a:pPr>
            <a:r>
              <a:t>KALINGA INSTITUTE OF INDUSTRIAL TECHNOLOGY (KIIT) • SCHOOL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9997135" cy="201168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02542"/>
                </a:solidFill>
                <a:latin typeface="Calibri"/>
              </a:defRPr>
            </a:pPr>
            <a:r>
              <a:t>Unsupervised Anomaly Detection for Predictive Maintenance in Industrial IoT</a:t>
            </a:r>
          </a:p>
          <a:p>
            <a:pPr>
              <a:spcAft>
                <a:spcPts val="1400"/>
              </a:spcAft>
              <a:defRPr sz="1800">
                <a:solidFill>
                  <a:srgbClr val="008CAA"/>
                </a:solidFill>
                <a:latin typeface="Calibri"/>
              </a:defRPr>
            </a:pPr>
            <a:r>
              <a:t>A Rigorous Empirical Benchmark, Multi-Dimensional Evaluation, and Leakage Prevention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383280"/>
            <a:ext cx="9997135" cy="18288"/>
          </a:xfrm>
          <a:prstGeom prst="rect">
            <a:avLst/>
          </a:prstGeom>
          <a:solidFill>
            <a:srgbClr val="D2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4754880" cy="22860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</a:defRPr>
            </a:pPr>
            <a:r>
              <a:t>DEGREE CANDIDATE:</a:t>
            </a:r>
          </a:p>
          <a:p>
            <a:pPr>
              <a:spcAft>
                <a:spcPts val="400"/>
              </a:spcAft>
              <a:defRPr sz="2000" b="1">
                <a:solidFill>
                  <a:srgbClr val="102542"/>
                </a:solidFill>
              </a:defRPr>
            </a:pPr>
            <a:r>
              <a:t>Tusher Tarafder</a:t>
            </a:r>
          </a:p>
          <a:p>
            <a:pPr>
              <a:defRPr sz="1400">
                <a:solidFill>
                  <a:srgbClr val="5A697D"/>
                </a:solidFill>
              </a:defRPr>
            </a:pPr>
            <a:r>
              <a:t>Bachelor of Technology in Computer Science &amp; Engineering</a:t>
            </a:r>
            <a:br/>
            <a:r>
              <a:t>School of Computer Engineering, KIIT Deemed to be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566160"/>
            <a:ext cx="4846320" cy="22860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</a:defRPr>
            </a:pPr>
            <a:r>
              <a:t>THESIS SUPERVISOR:</a:t>
            </a:r>
          </a:p>
          <a:p>
            <a:pPr>
              <a:spcAft>
                <a:spcPts val="400"/>
              </a:spcAft>
              <a:defRPr sz="2000" b="1">
                <a:solidFill>
                  <a:srgbClr val="102542"/>
                </a:solidFill>
              </a:defRPr>
            </a:pPr>
            <a:r>
              <a:t>Prof. (Dr.) Sujata Dash</a:t>
            </a:r>
          </a:p>
          <a:p>
            <a:pPr>
              <a:defRPr sz="1400">
                <a:solidFill>
                  <a:srgbClr val="5A697D"/>
                </a:solidFill>
              </a:defRPr>
            </a:pPr>
            <a:r>
              <a:t>Senior Professor, School of Computer Engineering</a:t>
            </a:r>
            <a:br/>
            <a:r>
              <a:t>Date of Defense: October 2026 • Bhubaneswar, Odisha,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STRUCTURE OF THE DISSERTATION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Presentation Outline &amp; Defense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2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I. Context &amp; Research Foundations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Industrial IoT &amp; Predictive Maintenance Motivation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Problem Statement: The Unproven Deep Learning Assumption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Literature Review &amp; Refined Research Gap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Core Research Questions (RQ1 through RQ7)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II. Benchmark Dataset &amp; Leakage Controls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NASA C-MAPSS Turbofan Degradation Benchmark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5-Pillar Data Leakage Prevention Protocol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III. Unsupervised Detection Frameworks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Statistical Z-Score Baseline (38 parameters)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Isolation Forest &amp; One-Class Support Vector Machine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Fully Connected Autoencoder (FC-AE: 8,163 parameters)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Recurrent LSTM Autoencoder (LSTM-AE: 116,723 parameters)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IV. Empirical Findings &amp; Breakthroughs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FD001 Comprehensive Benchmark Evaluation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Finding 1: Surprising Power of Simple Baselines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Finding 2: LSTM-AE 5x Earlier Warning (50 vs 10 cycles)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Finding 3: The Classification-Lead Time Paradox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V. Robustness &amp; Multi-Regime Analysis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Multi-Condition Degradation Performance (FD002/FD004)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Cross-Condition &amp; Cross-Fault Domain Transfer Collapse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VI. Ablation Studies &amp; Synthesis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Multi-Seed Reproducibility (5 Seeds) &amp; Significance Tests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Sequence Length Sensitivity Analysis (Seq=10 Optimal)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Industrial Method Selection Matrix (5 Scenarios)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Limitations, Future Research Directions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INTRODUCTION &amp; MOTIVATION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Predictive Maintenance in Industrial IoT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3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54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Modern industrial assets (turbofan engines, wind turbines, centrifugal pumps) operate with dozens of telemetry sensors.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  <a:latin typeface="Calibri"/>
              </a:defRPr>
            </a:pPr>
            <a:r>
              <a:t>•  Sensors capture high-frequency physical dynamics: temperatures, pressures, rotor speeds, vibrations.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  <a:latin typeface="Calibri"/>
              </a:defRPr>
            </a:pPr>
            <a:r>
              <a:t>•  Critical operational challenge: Real-time degradation tracking under severe operating stresses.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08760"/>
            <a:ext cx="342900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645920"/>
            <a:ext cx="3154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Reactive Maintenance: Run-to-failure causes catastrophic destruction, safety hazards, and multi-million dollar outages.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  <a:latin typeface="Calibri"/>
              </a:defRPr>
            </a:pPr>
            <a:r>
              <a:t>•  Scheduled Maintenance: Calendar-based overhauls replace healthy components prematurely, wasting 30-40% useful life.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  <a:latin typeface="Calibri"/>
              </a:defRPr>
            </a:pPr>
            <a:r>
              <a:t>•  Predictive Maintenance (PdM): Condition-based intervention before failure saves $50B+ across global industries.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508760"/>
            <a:ext cx="342900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645920"/>
            <a:ext cx="3154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Label Scarcity: Real machines run normally &gt;99.9% of their lifespan. Catastrophic failure records are virtually non-existent.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  <a:latin typeface="Calibri"/>
              </a:defRPr>
            </a:pPr>
            <a:r>
              <a:t>•  Supervised RUL algorithms fail in real deployment due to zero annotated training failures.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  <a:latin typeface="Calibri"/>
              </a:defRPr>
            </a:pPr>
            <a:r>
              <a:t>•  Unsupervised anomaly detection is the only scalable paradigm: Learn nominal health; flag deviations as degradation.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THE CORE RESEARCH CHALLENGE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Problem Statement: The Unproven DL Assumption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4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The Pervasive Deep Learning Assumption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Current literature heavily promotes complex deep learning architectures (Transformers, deep LSTMs, VAEs) as indispensable.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Default presumption: Multi-sensor industrial telemetry requires highly parameterized non-linear networks.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Baselines are often omitted, untuned, or used as token strawmen.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Operational Consequences in Production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Massive Parameter Bloat: 100,000+ parameters vs. 38 parameters.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Prohibitive Training &amp; Retraining Costs: Hundreds of GPU hours for edge IIoT gateways.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Total Lack of Physical Interpretability: Black-box latent spaces cannot explain which subsystem is degrading.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The Three Industrial Dilemmas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1. Labeled Data Scarcity: Operators do not possess run-to-failure trajectories for supervised model training.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2. Extreme Cost of False Alarms: Unscheduled aircraft grounding or turbine inspection costs over $100,000 per spurious alert.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3. Disconnect from Physical Reality: Point-wise evaluation metrics (F1, Accuracy) treat cycle-by-cycle classification identically, ignoring lead time.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Core Research Hypothesis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Under rigorous, leak-free experimental conditions, simpler statistical and classical machine learning models can rival deep neural networks in detection accuracy, while deep recurrent models offer advantages strictly in temporal early warning.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LITERATURE REVIEW &amp; SYNTHESIS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Research Gap: Lack of Rigorous Multi-Dimensional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5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THE EVIDENCE-BASED RESEARCH GAP IN C-MAPSS ANOMALY DETECTION:</a:t>
            </a:r>
          </a:p>
          <a:p>
            <a:pPr>
              <a:defRPr sz="1400">
                <a:solidFill>
                  <a:srgbClr val="102542"/>
                </a:solidFill>
              </a:defRPr>
            </a:pPr>
            <a:r>
              <a:t>While individual aspects of unsupervised anomaly detection have been studied in isolation, literature lacks a unified, methodologically rigorous study evaluating statistical, classical, and deep models side-by-side under strict leakage prevention, multi-seed statistical testing, and dual physical-lead-time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2523744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834640"/>
            <a:ext cx="23042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2230"/>
                </a:solidFill>
                <a:latin typeface="Calibri"/>
              </a:defRPr>
            </a:pPr>
            <a:r>
              <a:t>•  Papers compare new deep models only against other deep models.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Rarely test a well-tuned statistical z-score or Isolation Forest.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Assumes deep learning superiority without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2697480"/>
            <a:ext cx="2523744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2834640"/>
            <a:ext cx="23042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2230"/>
                </a:solidFill>
                <a:latin typeface="Calibri"/>
              </a:defRPr>
            </a:pPr>
            <a:r>
              <a:t>•  Random timestep splits mix early &amp; degraded cycles of same unit.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Normalization fit on entire dataset including test units.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Thresholds tuned post-hoc on test data to inflate F1/AUC.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697480"/>
            <a:ext cx="2523744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34640"/>
            <a:ext cx="23042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2230"/>
                </a:solidFill>
                <a:latin typeface="Calibri"/>
              </a:defRPr>
            </a:pPr>
            <a:r>
              <a:t>•  &gt;70% of C-MAPSS papers test only on FD001 (sea-level, 1 condition).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Ignores operational shifts (6 flight regimes in FD002/FD004).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Models fail when deployed across varying regimes.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2697480"/>
            <a:ext cx="2523744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2834640"/>
            <a:ext cx="23042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2230"/>
                </a:solidFill>
                <a:latin typeface="Calibri"/>
              </a:defRPr>
            </a:pPr>
            <a:r>
              <a:t>•  Only report dataset-wide F1 / ROC-AUC point classification.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Ignore detection lead time: How early before failure did it alert?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Conceals false alarm burdens on healthy operational phases.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FORMAL INVESTIGATION SCOPE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Research Questions (RQ1 - RQ7)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6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RQ1: Baseline vs. Deep Learning Under Fair Conditions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When Isolation Forest, Statistical Detector, and Autoencoders are evaluated under strictly identical leak-free splits, how does detection performance compare?</a:t>
            </a:r>
          </a:p>
          <a:p>
            <a:pPr>
              <a:spcAft>
                <a:spcPts val="3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RQ2: Does Explicit Temporal Modeling Improve Detection?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Does an LSTM Autoencoder modeling temporal sequences capture degradation better than a feedforward Autoencoder treating cycles independently?</a:t>
            </a:r>
          </a:p>
          <a:p>
            <a:pPr>
              <a:spcAft>
                <a:spcPts val="3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RQ3: How Does Detection Behave Across Operating Regimes?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How does performance degrade when moving from single-condition (FD001) to multi-condition (FD002/FD004) and multi-fault (FD003) datasets?</a:t>
            </a:r>
          </a:p>
          <a:p>
            <a:pPr>
              <a:spcAft>
                <a:spcPts val="3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RQ4: How Early Can Each Method Detect Degradation?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How many cycles before failure does the first sustained warning trigger, and how does lead time distribute across engines?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4967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RQ5: What is the Sensitivity vs. False Alarm Trade-off?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How does validation threshold calibration affect operational precision, detection persistence, and false alarm rate?</a:t>
            </a:r>
          </a:p>
          <a:p>
            <a:pPr>
              <a:spcAft>
                <a:spcPts val="3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RQ6: Do Models Generalize to Completely Unseen Engines?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When models are evaluated on isolated test engines (engine-level split), does performance degrade or demonstrate genuine pattern learning?</a:t>
            </a:r>
          </a:p>
          <a:p>
            <a:pPr>
              <a:spcAft>
                <a:spcPts val="3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RQ7: Is Added Complexity Computationally Justified?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Does the marginal performance gain from complex models (LSTM-AE &gt; FC-AE &gt; IF &gt; Stat) justify a 14x-3,000x parameter and training cost increase?</a:t>
            </a:r>
          </a:p>
          <a:p>
            <a:pPr>
              <a:spcAft>
                <a:spcPts val="3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Guiding Principle of Dissertation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We do not advocate for novel complexity. We pursue objective empirical truth: identifying precisely where each method succeeds and fails.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BENCHMARK SPECIFICATION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Dataset: NASA C-MAPSS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7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188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82230"/>
                </a:solidFill>
                <a:latin typeface="Calibri"/>
              </a:defRPr>
            </a:pPr>
            <a:r>
              <a:t>•  Commercial Modular Aero-Propulsion System Simulation (NASA Ames Research Center): Realistic turbofan engine run-to-failure telemetry.</a:t>
            </a:r>
          </a:p>
          <a:p>
            <a:pPr>
              <a:spcAft>
                <a:spcPts val="800"/>
              </a:spcAft>
              <a:defRPr sz="1400">
                <a:solidFill>
                  <a:srgbClr val="182230"/>
                </a:solidFill>
                <a:latin typeface="Calibri"/>
              </a:defRPr>
            </a:pPr>
            <a:r>
              <a:t>•  21 sensor measurements (temperatures, pressures, fan speeds) + 3 operational settings per cycle.</a:t>
            </a:r>
          </a:p>
          <a:p>
            <a:pPr>
              <a:spcAft>
                <a:spcPts val="800"/>
              </a:spcAft>
              <a:defRPr sz="1400">
                <a:solidFill>
                  <a:srgbClr val="182230"/>
                </a:solidFill>
                <a:latin typeface="Calibri"/>
              </a:defRPr>
            </a:pPr>
            <a:r>
              <a:t>•  Systematic Feature Selection: 7 invariant features (zero variance across cycles: s1, s5, s10, s16, s18, s19, setting3) removed. 14 active sensors retained.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83464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97280"/>
                <a:gridCol w="1097280"/>
                <a:gridCol w="1645920"/>
                <a:gridCol w="1554480"/>
                <a:gridCol w="1920240"/>
                <a:gridCol w="2407615"/>
              </a:tblGrid>
              <a:tr h="402336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Subset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Units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Units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Flight Conditions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Fault Modes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Complexity Level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Failure Mechanism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</a:tr>
              <a:tr h="402336">
                <a:tc>
                  <a:txBody>
                    <a:bodyPr wrap="square" lIns="73152" rIns="73152"/>
                    <a:lstStyle/>
                    <a:p>
                      <a:pPr algn="l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FD001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1 (Sea Level)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1 (HPC Degradation)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Low (Single Regime)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High-Pressure Compressor Wear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02336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FD002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260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259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6 Operating Regimes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 (HPC Degradation)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High (Multi-Regime)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HPC Wear + Flight Envelope Variation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02336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FD003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 (Sea Level)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 (HPC + Fan)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Medium (Dual Fault)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HPC Wear &amp; Fan Blade Degradation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02336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FD004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248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6 Operating Regimes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 (HPC + Fan)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Extreme (Combined)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HPC + Fan Degradation + 6 Regimes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983480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47488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RESEARCH METHODOLOGY HIGHLIGHT ON SUBSET COMPLEXITY:</a:t>
            </a:r>
          </a:p>
          <a:p>
            <a:pPr>
              <a:defRPr sz="1300">
                <a:solidFill>
                  <a:srgbClr val="182230"/>
                </a:solidFill>
              </a:defRPr>
            </a:pPr>
            <a:r>
              <a:t>FD001 serves as the primary controlled benchmark for baseline vs. deep learning comparison. FD002 and FD004 test model adaptability under severe operational regime shifts. FD003 enables cross-fault domain generalization analysis (testing models trained on HPC wear against novel Fan degradation).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Methodology Overview: 5-Method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8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00200"/>
            <a:ext cx="1819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56A0"/>
                </a:solidFill>
              </a:defRPr>
            </a:pPr>
            <a:r>
              <a:t>1. Data Pipeline</a:t>
            </a:r>
          </a:p>
          <a:p>
            <a:pPr>
              <a:defRPr sz="1200">
                <a:solidFill>
                  <a:srgbClr val="182230"/>
                </a:solidFill>
              </a:defRPr>
            </a:pPr>
            <a:r>
              <a:t>Engine-level splitting (70/15/15). Healthy 70% normal cutoff. Invariant feature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6936" y="150876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0088" y="1600200"/>
            <a:ext cx="1819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56A0"/>
                </a:solidFill>
              </a:defRPr>
            </a:pPr>
            <a:r>
              <a:t>2. Normalization</a:t>
            </a:r>
          </a:p>
          <a:p>
            <a:pPr>
              <a:defRPr sz="1200">
                <a:solidFill>
                  <a:srgbClr val="182230"/>
                </a:solidFill>
              </a:defRPr>
            </a:pPr>
            <a:r>
              <a:t>Train-only statistics (mean/std). Zero test exposure. Scaler parameters frozen.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150876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600200"/>
            <a:ext cx="1819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56A0"/>
                </a:solidFill>
              </a:defRPr>
            </a:pPr>
            <a:r>
              <a:t>3. Model Training</a:t>
            </a:r>
          </a:p>
          <a:p>
            <a:pPr>
              <a:defRPr sz="1200">
                <a:solidFill>
                  <a:srgbClr val="182230"/>
                </a:solidFill>
              </a:defRPr>
            </a:pPr>
            <a:r>
              <a:t>5 unsupervised paradigms: Statistical, Isolation Forest, OC-SVM, FC-AE, LSTM-AE.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8" y="150876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00200"/>
            <a:ext cx="1819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56A0"/>
                </a:solidFill>
              </a:defRPr>
            </a:pPr>
            <a:r>
              <a:t>4. Thresholding</a:t>
            </a:r>
          </a:p>
          <a:p>
            <a:pPr>
              <a:defRPr sz="1200">
                <a:solidFill>
                  <a:srgbClr val="182230"/>
                </a:solidFill>
              </a:defRPr>
            </a:pPr>
            <a:r>
              <a:t>Calibrated exclusively on validation set (95th percentile &amp; k-sigma). Zero test peeking.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3184" y="150876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1600200"/>
            <a:ext cx="1819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56A0"/>
                </a:solidFill>
              </a:defRPr>
            </a:pPr>
            <a:r>
              <a:t>5. Dual Metrics</a:t>
            </a:r>
          </a:p>
          <a:p>
            <a:pPr>
              <a:defRPr sz="1200">
                <a:solidFill>
                  <a:srgbClr val="182230"/>
                </a:solidFill>
              </a:defRPr>
            </a:pPr>
            <a:r>
              <a:t>Point classification (F1, AUC, FAR) + Asset early warning (Lead Time, 5-cycle persistence).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0728655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82230"/>
                </a:solidFill>
                <a:latin typeface="Calibri"/>
              </a:defRPr>
            </a:pPr>
            <a:r>
              <a:t>•  Statistical Z-Score: Zero-training parametric distance detector (38 scalar parameters; instant closed-form computation).</a:t>
            </a:r>
          </a:p>
          <a:p>
            <a:pPr>
              <a:spcAft>
                <a:spcPts val="800"/>
              </a:spcAft>
              <a:defRPr sz="1400">
                <a:solidFill>
                  <a:srgbClr val="182230"/>
                </a:solidFill>
                <a:latin typeface="Calibri"/>
              </a:defRPr>
            </a:pPr>
            <a:r>
              <a:t>•  Isolation Forest: Non-parametric ensemble of random decision trees isolating anomalies in sparse regions.</a:t>
            </a:r>
          </a:p>
          <a:p>
            <a:pPr>
              <a:spcAft>
                <a:spcPts val="800"/>
              </a:spcAft>
              <a:defRPr sz="1400">
                <a:solidFill>
                  <a:srgbClr val="182230"/>
                </a:solidFill>
                <a:latin typeface="Calibri"/>
              </a:defRPr>
            </a:pPr>
            <a:r>
              <a:t>•  One-Class SVM: Kernel-based maximum-margin boundary construction in high-dimensional reproducing Hilbert space.</a:t>
            </a:r>
          </a:p>
          <a:p>
            <a:pPr>
              <a:spcAft>
                <a:spcPts val="800"/>
              </a:spcAft>
              <a:defRPr sz="1400">
                <a:solidFill>
                  <a:srgbClr val="182230"/>
                </a:solidFill>
                <a:latin typeface="Calibri"/>
              </a:defRPr>
            </a:pPr>
            <a:r>
              <a:t>•  Fully Connected Autoencoder (FC-AE): 7-layer symmetric neural bottleneck manifold reconstruction (8,163 parameters).</a:t>
            </a:r>
          </a:p>
          <a:p>
            <a:pPr>
              <a:spcAft>
                <a:spcPts val="800"/>
              </a:spcAft>
              <a:defRPr sz="1400">
                <a:solidFill>
                  <a:srgbClr val="182230"/>
                </a:solidFill>
                <a:latin typeface="Calibri"/>
              </a:defRPr>
            </a:pPr>
            <a:r>
              <a:t>•  LSTM Recurrent Autoencoder (LSTM-AE): 2-layer sequence-to-sequence temporal encoder-decoder (116,723 parameters).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PARAMETRIC BASELINE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Method 1: Statistical Threshold Detector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9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Mathematical Formulation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Sensor Z-Score: Standardization using healthy baseline training distribution: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z_{i,t} = |x_{i,t} - mu_{i,train}| / sigma_{i,train}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Mean Composite Score: S_mean(t) = (1/M) * sum(z_{i,t})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Max Composite Score: S_max(t) = max_i(z_{i,t})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Where M is the number of active sensors (M = 19 or 14).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Detection Rule &amp; Calibration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Threshold tau calibrated on validation healthy set: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Percentile Rule: tau = Percentile_95(S_val)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K-Sigma Rule: tau = mu_S + k * sigma_S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Key Architectural Strengths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Total Parameters: Exactly 38 scalar values (19 feature means + 19 standard deviations).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Training Time: 0.00 seconds (deterministic single-pass aggregation).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Inference Latency: &lt; 0.01 ms per cycle (vectorized arithmetic; trivial microcontroller implementation).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Full Interpretability: Operators immediately identify which sensor deviated.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Theoretical Limitations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Assumes static operational regime: Fails completely when machine operating speed or altitude varies.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Ignores non-linear sensor correlations.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Point-by-point evaluation without temporal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CLASSICAL MACHINE LEARNING BASELINES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Methods 2 &amp; 3: Isolation Forest &amp; One-Class SVM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10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Isolation Forest (Liu et al.)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Core Principle: Isolates anomalies rather than profiling normal points.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Tree Partitioning: Recursively partitions feature space using random axis-aligned splits.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Anomaly Score Formula: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s(x, n) = 2^(- E[h(x)] / c(n))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Where h(x) is path length to terminal node and c(n) is average path length of unsuccessful search.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Configuration: 100 trees, 256 sub-sample size.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Fit Time: 0.72s. Non-parametric, highly scalable.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One-Class SVM (Schölkopf et al.)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Core Principle: Maps healthy training data into high-dimensional feature space via kernel function.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Kernel Formulation: Radial Basis Function (RBF):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K(x, x') = exp(-gamma * ||x - x'||^2)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Optimization: Constructs maximal-margin hyperplane separating normal points from the origin in Hilbert space.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Configuration: RBF kernel, gamma='scale', nu=0.05.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Fit Time: 0.22s. Memory-efficient support vector representation; sharp non-linear envelope.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DEEP NON-TEMPORAL ARCHITECTURE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Method 4: Fully Connected Autoencoder (FC-AE)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11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Architecture Specification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Symmetric 7-Layer Bottleneck Compression: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Input (19) -&gt; Dense(64, ReLU)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-&gt; Dense(32, ReLU) -&gt; Bottleneck(16, ReLU)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-&gt; Dense(32, ReLU) -&gt; Dense(64, ReLU)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-&gt; Output (19, Linear Reconstruction)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Parameter Count: Exactly 8,163 trainable weights &amp; biases.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Loss Function: Mean Squared Error (MSE):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L_rec = (1/M) * sum(x_{i,t} - x_hat_{i,t})^2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Operational Mechanics &amp; Scoring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Training Optimization: Adam optimizer (lr=1e-3), batch size 64, early stopping (patience=10) on validation loss.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Fit Time: 42.33s on CPU/GPU.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Anomaly Scoring: Point-wise reconstruction residual: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Score(t) = ||x_t - x_hat_t||_2^2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Key Strength: Successfully learns non-linear correlations across multi-sensor combinations.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Limitation: Treats each cycle independently; blind to temporal rate of change and sequential drift.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DEEP TEMPORAL SEQUENCE MODEL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Method 5: LSTM Recurrent Autoencoder (LSTM-AE)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12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Architecture Specification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Sequence-to-Sequence Recurrent Bottleneck: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Input Sequence: (Batch, SeqLen=30, Features=19)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Encoder Layer 1: LSTM (hidden=64, return_seq=True)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Encoder Layer 2: LSTM (hidden=32, return_seq=False)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Latent Space: 32-dimensional context vector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Decoder: RepeatVector(T) -&gt; LSTM(32) -&gt; LSTM(64)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     TimeDistributed(Dense(19, Linear))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Parameter Count: Exactly 116,723 trainable parameters (~14.3x larger than FC-AE; 3,071x larger than Statistical).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Training &amp; Theoretical Advantage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Sliding Window Generation: Window size T=30 cycles, stride 1; strict engine boundary containment.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Optimization: Adam (lr=1e-3), 60 epochs, MSE sequence loss.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Fit Time: 491.88s (~8.2 minutes) — 680x slower than IF.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Temporal Hypothesis: By encoding temporal dynamics, the model learns the trajectory of health over time, capturing rate-of-wear rather than instantaneous value out-of-bounds.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METHODOLOGICAL RIGOR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Data Leakage Prevention: 5 Integrity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13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96596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783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2230"/>
                </a:solidFill>
                <a:latin typeface="Calibri"/>
              </a:defRPr>
            </a:pPr>
            <a:r>
              <a:t>•  70% Train, 15% Val, 15% Test strictly by engine ID.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Zero mixing of observations across splits.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Models never see future or past cycles of test engines.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6936" y="1508760"/>
            <a:ext cx="196596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8376" y="1645920"/>
            <a:ext cx="1783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2230"/>
                </a:solidFill>
                <a:latin typeface="Calibri"/>
              </a:defRPr>
            </a:pPr>
            <a:r>
              <a:t>•  Normalization (mean/std) fit strictly on training units.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Zero test or validation data in statistics.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Scaler frozen before transforming test 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1508760"/>
            <a:ext cx="196596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645920"/>
            <a:ext cx="1783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2230"/>
                </a:solidFill>
                <a:latin typeface="Calibri"/>
              </a:defRPr>
            </a:pPr>
            <a:r>
              <a:t>•  Training restricted to initial 70% of engine lifespans.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Degraded cycles strictly excluded from training.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Guarantees true unsupervised anomaly baseline.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8" y="1508760"/>
            <a:ext cx="196596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1645920"/>
            <a:ext cx="1783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2230"/>
                </a:solidFill>
                <a:latin typeface="Calibri"/>
              </a:defRPr>
            </a:pPr>
            <a:r>
              <a:t>•  Sliding windows clipped at engine transitions.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Zero cross-engine sequence stitching.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Window contains only past and current timesteps.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3184" y="1508760"/>
            <a:ext cx="196596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64624" y="1645920"/>
            <a:ext cx="1783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2230"/>
                </a:solidFill>
                <a:latin typeface="Calibri"/>
              </a:defRPr>
            </a:pPr>
            <a:r>
              <a:t>•  All thresholds calibrated exclusively on validation set.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Zero threshold tuning on test data.</a:t>
            </a:r>
          </a:p>
          <a:p>
            <a:pPr>
              <a:spcAft>
                <a:spcPts val="800"/>
              </a:spcAft>
              <a:defRPr sz="1300">
                <a:solidFill>
                  <a:srgbClr val="182230"/>
                </a:solidFill>
                <a:latin typeface="Calibri"/>
              </a:defRPr>
            </a:pPr>
            <a:r>
              <a:t>•  Completely unseen test set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BENCHMARK EVALUATION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Results: FD001 Comprehensive Model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14 of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7437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68680"/>
                <a:gridCol w="868680"/>
                <a:gridCol w="914400"/>
                <a:gridCol w="777240"/>
                <a:gridCol w="960120"/>
                <a:gridCol w="960120"/>
                <a:gridCol w="960120"/>
                <a:gridCol w="1005840"/>
                <a:gridCol w="868680"/>
                <a:gridCol w="944575"/>
              </a:tblGrid>
              <a:tr h="418011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FAR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PR-AUC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Det. Rate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 Time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Fit Time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</a:tr>
              <a:tr h="418011">
                <a:tc>
                  <a:txBody>
                    <a:bodyPr wrap="square" lIns="73152" rIns="73152"/>
                    <a:lstStyle/>
                    <a:p>
                      <a:pPr algn="l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Statistical Mean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0.430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0.602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0.984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0.932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93.3%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10.5 cyc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0.00s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18011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Statistical Max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0.691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0.288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0.407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0.949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0.749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24.4 cyc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0.00s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18011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0.378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0.549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0.976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73.3%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11.1 cyc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0.72s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Non-param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18011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One-Class SVM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0.995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0.417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0.588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0.913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86.7%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11.5 cyc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0.22s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Convex QP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18011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Autoencoder (FC)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0.931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0.404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0.564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0.005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0.769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60.0%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14.2 cyc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42.33s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8,163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18014">
                <a:tc>
                  <a:txBody>
                    <a:bodyPr wrap="square" lIns="73152" rIns="73152"/>
                    <a:lstStyle/>
                    <a:p>
                      <a:pPr algn="l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LSTM Autoencoder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0.880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0.284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0.429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0.008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0.901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0.689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73.3%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50.0 cyc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491.88s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116,723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66344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3383280" cy="141732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1A56A0"/>
                </a:solidFill>
                <a:latin typeface="Calibri"/>
              </a:defRPr>
            </a:pPr>
            <a:r>
              <a:t>0.602 / 0.984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102542"/>
                </a:solidFill>
                <a:latin typeface="Calibri"/>
              </a:defRPr>
            </a:pPr>
            <a:r>
              <a:t>Top F1 &amp; ROC-AUC</a:t>
            </a:r>
          </a:p>
          <a:p>
            <a:pPr algn="ctr">
              <a:defRPr sz="1000">
                <a:solidFill>
                  <a:srgbClr val="5A697D"/>
                </a:solidFill>
                <a:latin typeface="Calibri"/>
              </a:defRPr>
            </a:pPr>
            <a:r>
              <a:t>Statistical Mean Detector (38 params)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66344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663440"/>
            <a:ext cx="3383280" cy="141732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1A56A0"/>
                </a:solidFill>
                <a:latin typeface="Calibri"/>
              </a:defRPr>
            </a:pPr>
            <a:r>
              <a:t>50.0 Cycles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102542"/>
                </a:solidFill>
                <a:latin typeface="Calibri"/>
              </a:defRPr>
            </a:pPr>
            <a:r>
              <a:t>Top Advance Warning</a:t>
            </a:r>
          </a:p>
          <a:p>
            <a:pPr algn="ctr">
              <a:defRPr sz="1000">
                <a:solidFill>
                  <a:srgbClr val="5A697D"/>
                </a:solidFill>
                <a:latin typeface="Calibri"/>
              </a:defRPr>
            </a:pPr>
            <a:r>
              <a:t>LSTM Autoencoder (5x vs Baselines)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663440"/>
            <a:ext cx="34134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663440"/>
            <a:ext cx="3413455" cy="141732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1A56A0"/>
                </a:solidFill>
                <a:latin typeface="Calibri"/>
              </a:defRPr>
            </a:pPr>
            <a:r>
              <a:t>0.72s vs 492s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102542"/>
                </a:solidFill>
                <a:latin typeface="Calibri"/>
              </a:defRPr>
            </a:pPr>
            <a:r>
              <a:t>Compute Efficiency</a:t>
            </a:r>
          </a:p>
          <a:p>
            <a:pPr algn="ctr">
              <a:defRPr sz="1000">
                <a:solidFill>
                  <a:srgbClr val="5A697D"/>
                </a:solidFill>
                <a:latin typeface="Calibri"/>
              </a:defRPr>
            </a:pPr>
            <a:r>
              <a:t>Isolation Forest fits 680x faster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CORE EMPIRICAL DISCOVERY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Key Finding 1: Simple Baselines Are Surprisingly Strong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15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Empirical Evidence on FD001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Statistical Mean detector achieves highest F1 (0.602) and highest ROC-AUC (0.984) among ALL tested models.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Beats 8,163-param FC-AE (F1=0.564, AUC=0.912) and 116,723-param LSTM-AE (F1=0.429, AUC=0.901).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Zero false alarms on normal operating period (FAR = 0.000).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Highest detection rate: Catches 93.3% of failing engines before breakdown.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Why Do Simple Baselines Excel?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Single operating condition produces steady, monotonic physical drift in key sensors (T24, T50, Ps30).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Z-score directly mirrors underlying thermodynamic degradation without neural distortion.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Why Do Neural Networks Underperform in Point F1?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Reconstruction Generalization: Neural autoencoders generalize too well, partially reconstructing mild degradation states.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Reconstruction Smoothing: High-capacity decoders smooth out subtle step deviations.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Hyperparameter Sensitivity: Learning rates, latent dimensions, and epoch limits introduce non-trivial variance.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Decisive Takeaway for Industry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In single-operating-condition industrial assets, deploying deep learning without evaluating a statistical baseline is an expensive, unnecessary engineering error.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A 38-parameter statistical model is mathematically optimal for static conditions.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OPERATIONAL IMPACT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Key Finding 2: LSTM-AE Provides 5x Earlier Warning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16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The 50-Cycle Early Warning Horizon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LSTM Autoencoder triggers sustained warning 50.0 cycles before failure on average.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Statistical Mean detector triggers warning only 10.5 cycles before failure.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Isolation Forest: 11.1 cycles | One-Class SVM: 11.5 cycles.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FC Autoencoder: 14.2 cycles.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LSTM-AE provides nearly 5x more actionable maintenance notice than all baseline methods!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Physical Operational Value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10 cycles is an emergency grounding alert (disruptive, costly).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50 cycles enables scheduled depot overhaul, parts procurement, and zero passenger flight cancellations.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Why Recurrent Modeling Enables Early Detection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Static Baselines Check Magnitude Outliers: They only fire when sensor values reach extreme outer boundaries (late-stage degradation).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LSTM-AE Checks Temporal Dynamics: It learns normal rate-of-change across time windows.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Subtle trajectory drifts violate sequence reconstruction long before values breach static thresholds.</a:t>
            </a:r>
          </a:p>
          <a:p>
            <a:pPr>
              <a:spcAft>
                <a:spcPts val="300"/>
              </a:spcAft>
              <a:defRPr sz="1700" b="1">
                <a:solidFill>
                  <a:srgbClr val="182230"/>
                </a:solidFill>
                <a:latin typeface="Calibri"/>
              </a:defRPr>
            </a:pPr>
            <a:r>
              <a:t>•  Persistence Filtering Validation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All warnings validated with 5-consecutive-cycle persistence filter.</a:t>
            </a:r>
          </a:p>
          <a:p>
            <a:pPr>
              <a:spcAft>
                <a:spcPts val="300"/>
              </a:spcAft>
              <a:defRPr sz="1400">
                <a:solidFill>
                  <a:srgbClr val="5A697D"/>
                </a:solidFill>
                <a:latin typeface="Calibri"/>
              </a:defRPr>
            </a:pPr>
            <a:r>
              <a:t>     -  Confirms that LSTM-AE lead time reflects genuine persistent degradation, not transient noisy spikes.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METHODOLOGICAL PARADOX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Key Finding 3: The Classification-Lead Time Paradox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17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6A0"/>
                </a:solidFill>
              </a:defRPr>
            </a:pPr>
            <a:r>
              <a:t>THE CENTRAL PARADOX OF INDUSTRIAL PREDICTIVE MAINTENANCE:</a:t>
            </a:r>
          </a:p>
          <a:p>
            <a:pPr>
              <a:defRPr sz="1500" b="1">
                <a:solidFill>
                  <a:srgbClr val="102542"/>
                </a:solidFill>
              </a:defRPr>
            </a:pPr>
            <a:r>
              <a:t>Standard point-wise classification metrics (F1 score, Precision, ROC-AUC) actively penalize models that provide early failure warnings. A model with early warning is mathematically rated as worse by traditional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21208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846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Why Point Metrics Penalize Early Detection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Ground truth defines 'anomaly' using fixed RUL cutoff (e.g., RUL &lt;= 30 cycles).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When LSTM-AE flags degradation at cycle 50 (RUL=50), cycles 50 through 31 are scored as FALSE POSITIVES!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Precision and F1 drop sharply, despite providing superior operational value.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Baselines achieve high F1 precisely because they delay warning until RUL &lt;= 11 (late failure).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242255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71800"/>
            <a:ext cx="4876495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82230"/>
                </a:solidFill>
                <a:latin typeface="Calibri"/>
              </a:defRPr>
            </a:pPr>
            <a:r>
              <a:t>•  The Necessary Evaluation Paradigm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Point-wise classification alone is an invalid evaluation criterion for Predictive Maintenance.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Must report a Dual-Objective Evaluation: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     1. Discrimination Quality: ROC-AUC / PR-AUC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     2. Operational Advance Warning: Mean Lead Time (cycles) &amp; False Alarm Rate on normal phase</a:t>
            </a:r>
          </a:p>
          <a:p>
            <a:pPr>
              <a:spcAft>
                <a:spcPts val="300"/>
              </a:spcAft>
              <a:defRPr sz="1200">
                <a:solidFill>
                  <a:srgbClr val="5A697D"/>
                </a:solidFill>
                <a:latin typeface="Calibri"/>
              </a:defRPr>
            </a:pPr>
            <a:r>
              <a:t>     -  A model with F1=0.43 and Lead=50 cycles is far more valuable than one with F1=0.60 and Lead=10 cycles.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ENVIRONMENTAL COMPLEXITY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Operating Condition Results: Multi-Regime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18 of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03120"/>
                <a:gridCol w="1920240"/>
                <a:gridCol w="1828800"/>
                <a:gridCol w="1828800"/>
                <a:gridCol w="1858975"/>
              </a:tblGrid>
              <a:tr h="438912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Conditions / Faults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Statistical Mean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Autoencoder (FC)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LSTM Autoencoder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FD001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 Cond / 1 Fault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0.984 (F1=0.602)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0.978 (F1=0.549)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0.946 (F1=0.549)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0.839 (F1=0.431)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FD002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6 Cond / 1 Fault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0.501 (F1=0.169 - FAILS)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0.878 (F1=0.422)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0.940 (F1=0.364)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0.537 (F1=0.081)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FD003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 Cond / 2 Faults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0.972 (F1=0.342)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0.969 (F1=0.368)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0.944 (F1=0.274)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0.894 (F1=0.297)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FD004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6 Cond / 2 Faults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0.506 (F1=0.196 - FAILS)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0.913 (F1=0.429)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0.964 (F1=0.478 - BEST)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0.520 (F1=0.083)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521208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82230"/>
                </a:solidFill>
                <a:latin typeface="Calibri"/>
              </a:defRPr>
            </a:pPr>
            <a:r>
              <a:t>•  Complete Failure of Statistical Baselines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On FD002 and FD004 (6 operating conditions), Statistical Mean crashes to AUC = 0.501-0.506 (random guess!).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Detection rate collapses to 0.0%: Fails to detect any engine failure before breakdown.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Reason: Flight altitude and Mach changes dwarf degradation signals under global static scaling.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69080"/>
            <a:ext cx="487649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82230"/>
                </a:solidFill>
                <a:latin typeface="Calibri"/>
              </a:defRPr>
            </a:pPr>
            <a:r>
              <a:t>•  FC-Autoencoder Dominates Complex Regimes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FC-AE achieves highest ROC-AUC on FD004 (0.964) and FD002 (0.940).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Successfully maps non-linear correlations between operational settings and sensor responses.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Isolation Forest is second best (FD004 AUC=0.913, F1=0.429).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Architectural hierarchy completely inverts under environmental complexity!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GENERALIZATION ACROSS DOMAINS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Cross-Condition Transfer: Domain Collapse &amp; Fault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19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82230"/>
                </a:solidFill>
                <a:latin typeface="Calibri"/>
              </a:defRPr>
            </a:pPr>
            <a:r>
              <a:t>•  Shift 1: Operating Regime Transfer (FD001 -&gt; FD002/FD004)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Catastrophic Domain Failure across ALL models: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False Alarm Rates surge to 85.0% - 100.0%!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Models trained on sea-level (FD001) interpret routine high-altitude flight settings as severe structural degradation.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ROC-AUC drops to ~0.50 (random chance).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Proves: Operating regime conditioning is mandatory. Unsupervised models cannot transfer zero-shot across operating envelopes.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82230"/>
                </a:solidFill>
                <a:latin typeface="Calibri"/>
              </a:defRPr>
            </a:pPr>
            <a:r>
              <a:t>•  Shift 2: Novel Fault Mode Transfer (FD001 -&gt; FD003)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Trained on HPC degradation; tested on novel Fan Blade failure: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Isolation Forest demonstrates outstanding cross-fault robustness: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     ROC-AUC = 0.904 | F1 = 0.596 | Det. Rate = 93.3% | Lead = 51.5 cyc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Neural models struggle significantly: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     FC-AE: ROC-AUC drops to 0.677 | F1 = 0.253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     LSTM-AE: ROC-AUC drops to 0.578 | F1 = 0.210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Tree-based axis partitioning is inherently robust to novel failure modes; neural manifolds over-fit to specific degradation geometries.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STATISTICAL RIGOR (5 RANDOM SEEDS)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Ablation: Multi-Seed Stability &amp; Significance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20 of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33295"/>
              </a:tblGrid>
              <a:tr h="438912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Score (Mean ± Std)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 (Mean ± Std)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PR-AUC (Mean ± Std)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Lead Time (Cycles)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Statistical Mean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0.471 ± 0.074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0.985 ± 0.003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0.940 ± 0.007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9.68 ± 1.33 cycles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0.467 ± 0.069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0.980 ± 0.003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0.921 ± 0.008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8.68 ± 1.57 cycles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Autoencoder (FC)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0.445 ± 0.083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0.923 ± 0.019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0.792 ± 0.041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19.18 ± 4.22 cycles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LSTM Autoencoder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0.323 ± 0.071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0.772 ± 0.067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0.540 ± 0.097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25.44 ± 16.90 cycles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10728655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6289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82230"/>
                </a:solidFill>
                <a:latin typeface="Calibri"/>
              </a:defRPr>
            </a:pPr>
            <a:r>
              <a:t>•  Statistical Mean vs. Isolation Forest: Diff = +0.004, Paired t p = 0.860 (No significant difference — statistically equivalent).</a:t>
            </a:r>
          </a:p>
          <a:p>
            <a:pPr>
              <a:spcAft>
                <a:spcPts val="800"/>
              </a:spcAft>
              <a:defRPr sz="1400">
                <a:solidFill>
                  <a:srgbClr val="182230"/>
                </a:solidFill>
                <a:latin typeface="Calibri"/>
              </a:defRPr>
            </a:pPr>
            <a:r>
              <a:t>•  Statistical Mean vs. FC-Autoencoder: Diff = +0.026, Paired t p = 0.379 (No statistically significant difference in point F1).</a:t>
            </a:r>
          </a:p>
          <a:p>
            <a:pPr>
              <a:spcAft>
                <a:spcPts val="800"/>
              </a:spcAft>
              <a:defRPr sz="1400">
                <a:solidFill>
                  <a:srgbClr val="182230"/>
                </a:solidFill>
                <a:latin typeface="Calibri"/>
              </a:defRPr>
            </a:pPr>
            <a:r>
              <a:t>•  Statistical Mean vs. LSTM-Autoencoder: Diff = +0.147, Paired t p = 0.012 (Statistically significant advantage for Statistical detector, p &lt; 0.05).</a:t>
            </a:r>
          </a:p>
          <a:p>
            <a:pPr>
              <a:spcAft>
                <a:spcPts val="800"/>
              </a:spcAft>
              <a:defRPr sz="1400">
                <a:solidFill>
                  <a:srgbClr val="182230"/>
                </a:solidFill>
                <a:latin typeface="Calibri"/>
              </a:defRPr>
            </a:pPr>
            <a:r>
              <a:t>•  FC-Autoencoder vs. LSTM-Autoencoder: Diff = +0.122, Paired t p = 0.005 (Statistically significant difference, p &lt; 0.01).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TEMPORAL HYPERPARAMETER ANALYSIS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Ablation: Sequence Length Sensitivity in LSTM-AE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21 of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097280"/>
                <a:gridCol w="1097280"/>
                <a:gridCol w="1188720"/>
                <a:gridCol w="1188720"/>
                <a:gridCol w="1645920"/>
                <a:gridCol w="1676095"/>
              </a:tblGrid>
              <a:tr h="438912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Sequence Length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(P95)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(Best)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PR-AUC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Lead Time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Fit Time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SeqLen = 10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116,723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0.558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0.734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0.930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0.866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31.1 cycles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1">
                          <a:solidFill>
                            <a:srgbClr val="102542"/>
                          </a:solidFill>
                          <a:latin typeface="Calibri"/>
                        </a:defRPr>
                      </a:pPr>
                      <a:r>
                        <a:t>168.3s (Fastest)</a:t>
                      </a:r>
                    </a:p>
                  </a:txBody>
                  <a:tcPr anchor="ctr">
                    <a:solidFill>
                      <a:srgbClr val="F5F8FC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SeqLen = 20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116,723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0.488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0.657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0.919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0.844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28.8 cycles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280.2s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SeqLen = 30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116,723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0.403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0.507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0.858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0.738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36.8 cycles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386.4s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438912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SeqLen = 50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116,723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0.329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0.461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0.824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0.678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22.9 cycles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452.8s (Slowest)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521208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82230"/>
                </a:solidFill>
                <a:latin typeface="Calibri"/>
              </a:defRPr>
            </a:pPr>
            <a:r>
              <a:t>•  Short Sequences (T=10) Are Optimal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SeqLen=10 achieves peak F1 (0.558), peak ROC-AUC (0.930), and peak PR-AUC (0.866).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Reduces training time by 63% (168s vs 453s for T=50).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Maintains strong early lead time of 31.1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69080"/>
            <a:ext cx="487649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82230"/>
                </a:solidFill>
                <a:latin typeface="Calibri"/>
              </a:defRPr>
            </a:pPr>
            <a:r>
              <a:t>•  The 'Temporal Dilution' Effect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Long windows (T=50) dilute localized degradation onset.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Longer sequences force the recurrent cell to average over ancient nominal cycles, delaying sharp reconstruction divergence.</a:t>
            </a:r>
          </a:p>
          <a:p>
            <a:pPr>
              <a:spcAft>
                <a:spcPts val="300"/>
              </a:spcAft>
              <a:defRPr sz="1100">
                <a:solidFill>
                  <a:srgbClr val="5A697D"/>
                </a:solidFill>
                <a:latin typeface="Calibri"/>
              </a:defRPr>
            </a:pPr>
            <a:r>
              <a:t>     -  Recommendation: Practitioners should use compact temporal windows (T=10-15) for industrial anomaly detection.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DEPLOYMENT DECISION MATRIX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Practitioner's Method Selection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22 of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3291840"/>
                <a:gridCol w="3047695"/>
              </a:tblGrid>
              <a:tr h="762000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Deployment Scenario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Recommended Model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Justification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 Trade-off / Caution</a:t>
                      </a:r>
                    </a:p>
                  </a:txBody>
                  <a:tcPr anchor="ctr">
                    <a:solidFill>
                      <a:srgbClr val="1A56A0"/>
                    </a:solidFill>
                    <a:lnL w="15000" cmpd="s">
                      <a:solidFill>
                        <a:srgbClr val="102542"/>
                      </a:solidFill>
                    </a:lnL>
                    <a:lnR w="15000" cmpd="s">
                      <a:solidFill>
                        <a:srgbClr val="102542"/>
                      </a:solidFill>
                    </a:lnR>
                    <a:lnT w="15000" cmpd="s">
                      <a:solidFill>
                        <a:srgbClr val="102542"/>
                      </a:solidFill>
                    </a:lnT>
                    <a:lnB w="15000" cmpd="s">
                      <a:solidFill>
                        <a:srgbClr val="102542"/>
                      </a:solidFill>
                    </a:lnB>
                  </a:tcPr>
                </a:tc>
              </a:tr>
              <a:tr h="762000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1. Edge Microcontroller / PLC (&lt;100KB RAM)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Statistical Z-Score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38 scalar params, 0.00s fit, zero compute overhead; top F1 in static regime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Catastrophic failure if operational settings / speed vary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762000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2. Unknown / Emerging Mechanical Fault Modes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0.72s fit; outstanding cross-fault transfer robustness (AUC=0.904, Det=93.3%)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Shorter lead time (~11 cycles); point magnitude detection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762000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3. Mission-Critical Aviation (Early Warning)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LSTM Autoencoder (T=10)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50 cycles advance warning (5x baselines); captures drift velocity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High training latency (168-490s); lower point-wise F1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762000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4. Multi-Regime Industrial Assets (Multi-Speed)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Autoencoder (FC)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Dominates complex regimes (FD004 AUC=0.964); models non-linear sensors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Requires regime-aware normalization and careful tuning</a:t>
                      </a:r>
                    </a:p>
                  </a:txBody>
                  <a:tcPr anchor="ctr">
                    <a:solidFill>
                      <a:srgbClr val="F8FAFE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  <a:tr h="762000">
                <a:tc>
                  <a:txBody>
                    <a:bodyPr wrap="square" lIns="73152" rIns="73152"/>
                    <a:lstStyle/>
                    <a:p>
                      <a:pPr algn="l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5. Two-Tier Production Pipeline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Hybrid: FC-AE / IF + LSTM-AE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Tier-1 fast screening on edge + Tier-2 temporal confirmation in cloud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200" b="0">
                          <a:solidFill>
                            <a:srgbClr val="182230"/>
                          </a:solidFill>
                          <a:latin typeface="Calibri"/>
                        </a:defRPr>
                      </a:pPr>
                      <a:r>
                        <a:t>Increased pipeline engineering and dual threshold tuning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 cmpd="s">
                      <a:solidFill>
                        <a:srgbClr val="D2DEEC"/>
                      </a:solidFill>
                    </a:lnL>
                    <a:lnR w="12700" cmpd="s">
                      <a:solidFill>
                        <a:srgbClr val="D2DEEC"/>
                      </a:solidFill>
                    </a:lnR>
                    <a:lnT w="12700" cmpd="s">
                      <a:solidFill>
                        <a:srgbClr val="D2DEEC"/>
                      </a:solidFill>
                    </a:lnT>
                    <a:lnB w="12700" cmpd="s">
                      <a:solidFill>
                        <a:srgbClr val="D2DEE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CRITICAL REFLECTION &amp; ROADMAP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23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82230"/>
                </a:solidFill>
                <a:latin typeface="Calibri"/>
              </a:defRPr>
            </a:pPr>
            <a:r>
              <a:t>•  Current Study Limitations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Simulated Benchmark Data: C-MAPSS is thermo-dynamical simulation data; real industrial telemetry suffers from packet dropouts, noise, and sampling jitter.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Approximate Degradation Boundary: Defining anomaly ground truth at RUL &lt;= 30 cycles is a necessary operational heuristic for continuous wear.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Computational Edge Burden: 116,000+ parameter LSTM models cannot execute on ultra-low-power microcontrollers.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Single Benchmark Evaluation: Findings should be verified on rotating machinery (vibration, acoustics).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82230"/>
                </a:solidFill>
                <a:latin typeface="Calibri"/>
              </a:defRPr>
            </a:pPr>
            <a:r>
              <a:t>•  Future Research Roadmap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Physics-Informed Machine Learning (PIML): Embedding thermodynamic degradation laws directly into autoencoder latent loss functions.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Modern State-Space Models (Mamba / S4): Replacing recurrent LSTMs with sub-quadratic linear state-space models for ultra-fast, long-context temporal detection.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Self-Supervised Masked Reconstruction: Masking sensor subsets to improve multi-sensor root cause attribution.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Physical Test Rig Validation: Validating findings on bearing vibration test rigs (PRONOSTIA / IMS datasets).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A0"/>
                </a:solidFill>
                <a:latin typeface="Calibri"/>
              </a:defRPr>
            </a:pPr>
            <a:r>
              <a:t>SUMMARY OF CONTRIBUTIONS</a:t>
            </a:r>
          </a:p>
          <a:p>
            <a:pPr>
              <a:defRPr sz="2600" b="1">
                <a:solidFill>
                  <a:srgbClr val="102542"/>
                </a:solidFill>
                <a:latin typeface="Calibri"/>
              </a:defRPr>
            </a:pPr>
            <a:r>
              <a:t>Conclusions: Five Core Thesis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2DEEC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A697D"/>
                </a:solidFill>
                <a:latin typeface="Calibri"/>
              </a:defRPr>
            </a:pPr>
            <a:r>
              <a:t>Tusher Tarafder | BTech Thesis Defense (KIIT) | Supervisor: Prof. (Dr.) Sujata Dash</a:t>
            </a:r>
          </a:p>
          <a:p>
            <a:pPr algn="r"/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A56A0"/>
                </a:solidFill>
                <a:latin typeface="Calibri"/>
              </a:defRPr>
            </a:pPr>
            <a:r>
              <a:t>Slide 24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800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82230"/>
                </a:solidFill>
                <a:latin typeface="Calibri"/>
              </a:defRPr>
            </a:pPr>
            <a:r>
              <a:t>•  1. Simplicity is Severely Underestimated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A 38-parameter statistical detector outperforms deep neural networks in point-wise F1 (0.602 vs 0.429) and ROC-AUC (0.984 vs 0.901) in single-condition regimes. Deep learning is not universally superior.</a:t>
            </a:r>
          </a:p>
          <a:p>
            <a:pPr>
              <a:spcAft>
                <a:spcPts val="300"/>
              </a:spcAft>
              <a:defRPr sz="1600" b="1">
                <a:solidFill>
                  <a:srgbClr val="182230"/>
                </a:solidFill>
                <a:latin typeface="Calibri"/>
              </a:defRPr>
            </a:pPr>
            <a:r>
              <a:t>•  2. The Classification-Lead Time Paradox Revealed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Conventional point classification metrics (F1/AUC) actively penalize early warning. LSTM-AE provides 5x earlier warning (50 cycles vs 10 cycles) despite lower point-wise scores.</a:t>
            </a:r>
          </a:p>
          <a:p>
            <a:pPr>
              <a:spcAft>
                <a:spcPts val="300"/>
              </a:spcAft>
              <a:defRPr sz="1600" b="1">
                <a:solidFill>
                  <a:srgbClr val="182230"/>
                </a:solidFill>
                <a:latin typeface="Calibri"/>
              </a:defRPr>
            </a:pPr>
            <a:r>
              <a:t>•  3. Environmental Complexity Dictates Architecture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Operational shifts destroy statistical baselines (AUC drops from 0.984 to 0.501). Fully Connected Autoencoders dominate multi-condition environments (FD004 AUC=0.964).</a:t>
            </a:r>
          </a:p>
          <a:p>
            <a:pPr>
              <a:spcAft>
                <a:spcPts val="300"/>
              </a:spcAft>
              <a:defRPr sz="1600" b="1">
                <a:solidFill>
                  <a:srgbClr val="182230"/>
                </a:solidFill>
                <a:latin typeface="Calibri"/>
              </a:defRPr>
            </a:pPr>
            <a:r>
              <a:t>•  4. Tree Isolation Resists Novel Fault Shifts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Isolation Forest provides unmatched cross-fault generalization (AUC=0.904, Det Rate=93.3%), far exceeding neural autoencoders when encountering unseen failure modes.</a:t>
            </a:r>
          </a:p>
          <a:p>
            <a:pPr>
              <a:spcAft>
                <a:spcPts val="300"/>
              </a:spcAft>
              <a:defRPr sz="1600" b="1">
                <a:solidFill>
                  <a:srgbClr val="182230"/>
                </a:solidFill>
                <a:latin typeface="Calibri"/>
              </a:defRPr>
            </a:pPr>
            <a:r>
              <a:t>•  5. Methodological Rigor is Mandatory</a:t>
            </a:r>
          </a:p>
          <a:p>
            <a:pPr>
              <a:spcAft>
                <a:spcPts val="300"/>
              </a:spcAft>
              <a:defRPr sz="1300">
                <a:solidFill>
                  <a:srgbClr val="5A697D"/>
                </a:solidFill>
                <a:latin typeface="Calibri"/>
              </a:defRPr>
            </a:pPr>
            <a:r>
              <a:t>     -  Strict engine-level partitioning, train-only normalization, and validation-only thresholding eliminate inflated claims and provide true production-ready benchmarks.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31520"/>
            <a:ext cx="999713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94484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56A0"/>
                </a:solidFill>
                <a:latin typeface="Calibri"/>
              </a:defRPr>
            </a:pPr>
            <a:r>
              <a:t>B.TECH THESIS DEFENSE CONCLUDED</a:t>
            </a:r>
          </a:p>
          <a:p>
            <a:pPr>
              <a:spcAft>
                <a:spcPts val="1400"/>
              </a:spcAft>
              <a:defRPr sz="3600" b="1">
                <a:solidFill>
                  <a:srgbClr val="102542"/>
                </a:solidFill>
                <a:latin typeface="Calibri"/>
              </a:defRPr>
            </a:pPr>
            <a:r>
              <a:t>Thank You for Your Attention!</a:t>
            </a:r>
          </a:p>
          <a:p>
            <a:pPr>
              <a:spcAft>
                <a:spcPts val="2000"/>
              </a:spcAft>
              <a:defRPr sz="1800" b="1">
                <a:solidFill>
                  <a:srgbClr val="008CAA"/>
                </a:solidFill>
                <a:latin typeface="Calibri"/>
              </a:defRPr>
            </a:pPr>
            <a:r>
              <a:t>Unsupervised Anomaly Detection for Predictive Maintenance in Industrial IoT</a:t>
            </a:r>
          </a:p>
          <a:p>
            <a:pPr>
              <a:spcAft>
                <a:spcPts val="2400"/>
              </a:spcAft>
              <a:defRPr sz="1500">
                <a:solidFill>
                  <a:srgbClr val="5A697D"/>
                </a:solidFill>
                <a:latin typeface="Calibri"/>
              </a:defRPr>
            </a:pPr>
            <a:r>
              <a:t>Author: Tusher Tarafder (B.Tech Computer Science &amp; Engineering)</a:t>
            </a:r>
            <a:br/>
            <a:r>
              <a:t>Supervisor: Prof. (Dr.) Sujata Dash (School of Computer Engineering)</a:t>
            </a:r>
            <a:br/>
            <a:r>
              <a:t>Institution: KIIT Deemed to be University, Bhubaneswar, Odisha</a:t>
            </a:r>
            <a:br/>
            <a:r>
              <a:t>Defense Date: October 2026</a:t>
            </a:r>
          </a:p>
          <a:p>
            <a:pPr>
              <a:defRPr sz="2200" b="1">
                <a:solidFill>
                  <a:srgbClr val="1A56A0"/>
                </a:solidFill>
                <a:latin typeface="Calibri"/>
              </a:defRPr>
            </a:pPr>
            <a:r>
              <a:t>Questions &amp; Academic Discussion are Cordially Welcomed.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